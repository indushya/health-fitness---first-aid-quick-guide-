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370" y="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dushya Chintalapati" userId="030e4f37ce3e7c08" providerId="LiveId" clId="{CF65C800-2A6A-46FC-B45C-4AA16500985A}"/>
    <pc:docChg chg="modSld">
      <pc:chgData name="Indushya Chintalapati" userId="030e4f37ce3e7c08" providerId="LiveId" clId="{CF65C800-2A6A-46FC-B45C-4AA16500985A}" dt="2026-04-02T16:09:49.375" v="4" actId="113"/>
      <pc:docMkLst>
        <pc:docMk/>
      </pc:docMkLst>
      <pc:sldChg chg="modSp mod">
        <pc:chgData name="Indushya Chintalapati" userId="030e4f37ce3e7c08" providerId="LiveId" clId="{CF65C800-2A6A-46FC-B45C-4AA16500985A}" dt="2026-04-02T16:09:49.375" v="4" actId="113"/>
        <pc:sldMkLst>
          <pc:docMk/>
          <pc:sldMk cId="0" sldId="257"/>
        </pc:sldMkLst>
        <pc:spChg chg="mod">
          <ac:chgData name="Indushya Chintalapati" userId="030e4f37ce3e7c08" providerId="LiveId" clId="{CF65C800-2A6A-46FC-B45C-4AA16500985A}" dt="2026-04-02T16:09:38.882" v="2" actId="113"/>
          <ac:spMkLst>
            <pc:docMk/>
            <pc:sldMk cId="0" sldId="257"/>
            <ac:spMk id="4" creationId="{00000000-0000-0000-0000-000000000000}"/>
          </ac:spMkLst>
        </pc:spChg>
        <pc:spChg chg="mod">
          <ac:chgData name="Indushya Chintalapati" userId="030e4f37ce3e7c08" providerId="LiveId" clId="{CF65C800-2A6A-46FC-B45C-4AA16500985A}" dt="2026-04-02T16:09:43.307" v="3" actId="113"/>
          <ac:spMkLst>
            <pc:docMk/>
            <pc:sldMk cId="0" sldId="257"/>
            <ac:spMk id="5" creationId="{00000000-0000-0000-0000-000000000000}"/>
          </ac:spMkLst>
        </pc:spChg>
        <pc:spChg chg="mod">
          <ac:chgData name="Indushya Chintalapati" userId="030e4f37ce3e7c08" providerId="LiveId" clId="{CF65C800-2A6A-46FC-B45C-4AA16500985A}" dt="2026-04-02T16:09:49.375" v="4" actId="113"/>
          <ac:spMkLst>
            <pc:docMk/>
            <pc:sldMk cId="0" sldId="257"/>
            <ac:spMk id="6" creationId="{00000000-0000-0000-0000-000000000000}"/>
          </ac:spMkLst>
        </pc:spChg>
      </pc:sldChg>
      <pc:sldChg chg="modSp mod">
        <pc:chgData name="Indushya Chintalapati" userId="030e4f37ce3e7c08" providerId="LiveId" clId="{CF65C800-2A6A-46FC-B45C-4AA16500985A}" dt="2026-04-02T16:08:07.142" v="1" actId="20577"/>
        <pc:sldMkLst>
          <pc:docMk/>
          <pc:sldMk cId="0" sldId="262"/>
        </pc:sldMkLst>
        <pc:spChg chg="mod">
          <ac:chgData name="Indushya Chintalapati" userId="030e4f37ce3e7c08" providerId="LiveId" clId="{CF65C800-2A6A-46FC-B45C-4AA16500985A}" dt="2026-04-02T16:08:07.142" v="1" actId="20577"/>
          <ac:spMkLst>
            <pc:docMk/>
            <pc:sldMk cId="0" sldId="262"/>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F605EF-D335-4603-9E91-63A2D60C031C}" type="datetimeFigureOut">
              <a:rPr lang="en-IN" smtClean="0"/>
              <a:t>02-04-2026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8020A1-0A1D-4B2E-AA73-788E15330197}" type="slidenum">
              <a:rPr lang="en-IN" smtClean="0"/>
              <a:t>‹#›</a:t>
            </a:fld>
            <a:endParaRPr lang="en-IN"/>
          </a:p>
        </p:txBody>
      </p:sp>
    </p:spTree>
    <p:extLst>
      <p:ext uri="{BB962C8B-B14F-4D97-AF65-F5344CB8AC3E}">
        <p14:creationId xmlns:p14="http://schemas.microsoft.com/office/powerpoint/2010/main" val="398457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38020A1-0A1D-4B2E-AA73-788E15330197}" type="slidenum">
              <a:rPr lang="en-IN" smtClean="0"/>
              <a:t>1</a:t>
            </a:fld>
            <a:endParaRPr lang="en-IN"/>
          </a:p>
        </p:txBody>
      </p:sp>
    </p:spTree>
    <p:extLst>
      <p:ext uri="{BB962C8B-B14F-4D97-AF65-F5344CB8AC3E}">
        <p14:creationId xmlns:p14="http://schemas.microsoft.com/office/powerpoint/2010/main" val="2421828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0" y="-3296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9313" b="-69313"/>
            </a:stretch>
          </a:blipFill>
        </p:spPr>
      </p:sp>
      <p:grpSp>
        <p:nvGrpSpPr>
          <p:cNvPr id="3" name="Group 3"/>
          <p:cNvGrpSpPr/>
          <p:nvPr/>
        </p:nvGrpSpPr>
        <p:grpSpPr>
          <a:xfrm>
            <a:off x="1153933" y="2694198"/>
            <a:ext cx="16230600" cy="149974"/>
            <a:chOff x="0" y="0"/>
            <a:chExt cx="4052983" cy="37450"/>
          </a:xfrm>
        </p:grpSpPr>
        <p:sp>
          <p:nvSpPr>
            <p:cNvPr id="4" name="Freeform 4"/>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5" name="TextBox 5"/>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4"/>
            <a:stretch>
              <a:fillRect/>
            </a:stretch>
          </a:blipFill>
        </p:spPr>
      </p:sp>
      <p:sp>
        <p:nvSpPr>
          <p:cNvPr id="7" name="Freeform 7"/>
          <p:cNvSpPr/>
          <p:nvPr/>
        </p:nvSpPr>
        <p:spPr>
          <a:xfrm>
            <a:off x="15748808" y="32965"/>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5"/>
            <a:stretch>
              <a:fillRect/>
            </a:stretch>
          </a:blipFill>
        </p:spPr>
      </p:sp>
      <p:sp>
        <p:nvSpPr>
          <p:cNvPr id="8" name="TextBox 8"/>
          <p:cNvSpPr txBox="1"/>
          <p:nvPr/>
        </p:nvSpPr>
        <p:spPr>
          <a:xfrm>
            <a:off x="4173024" y="365758"/>
            <a:ext cx="10395942" cy="1116334"/>
          </a:xfrm>
          <a:prstGeom prst="rect">
            <a:avLst/>
          </a:prstGeom>
        </p:spPr>
        <p:txBody>
          <a:bodyPr lIns="0" tIns="0" rIns="0" bIns="0" rtlCol="0" anchor="t">
            <a:spAutoFit/>
          </a:bodyPr>
          <a:lstStyle/>
          <a:p>
            <a:pPr algn="ctr">
              <a:lnSpc>
                <a:spcPts val="9059"/>
              </a:lnSpc>
              <a:spcBef>
                <a:spcPct val="0"/>
              </a:spcBef>
            </a:pPr>
            <a:r>
              <a:rPr lang="en-US" sz="5999" b="1" spc="-215">
                <a:solidFill>
                  <a:srgbClr val="FFFFFF"/>
                </a:solidFill>
                <a:latin typeface="Times New Roman Bold"/>
                <a:ea typeface="Times New Roman Bold"/>
                <a:cs typeface="Times New Roman Bold"/>
                <a:sym typeface="Times New Roman Bold"/>
              </a:rPr>
              <a:t>HACK MATRIX HACKATHON </a:t>
            </a:r>
          </a:p>
        </p:txBody>
      </p:sp>
      <p:sp>
        <p:nvSpPr>
          <p:cNvPr id="10" name="TextBox 10"/>
          <p:cNvSpPr txBox="1"/>
          <p:nvPr/>
        </p:nvSpPr>
        <p:spPr>
          <a:xfrm>
            <a:off x="485956" y="3568777"/>
            <a:ext cx="11947344" cy="567463"/>
          </a:xfrm>
          <a:prstGeom prst="rect">
            <a:avLst/>
          </a:prstGeom>
        </p:spPr>
        <p:txBody>
          <a:bodyPr wrap="square" lIns="0" tIns="0" rIns="0" bIns="0" rtlCol="0" anchor="t">
            <a:spAutoFit/>
          </a:bodyPr>
          <a:lstStyle/>
          <a:p>
            <a:pPr marL="690874" lvl="1" indent="-345437">
              <a:lnSpc>
                <a:spcPts val="4831"/>
              </a:lnSpc>
              <a:spcBef>
                <a:spcPct val="0"/>
              </a:spcBef>
              <a:buFont typeface="Arial"/>
              <a:buChar char="•"/>
            </a:pPr>
            <a:r>
              <a:rPr lang="en-US" sz="3199" b="1" spc="-115" dirty="0">
                <a:solidFill>
                  <a:srgbClr val="FFFFFF"/>
                </a:solidFill>
                <a:latin typeface="Times New Roman Bold"/>
                <a:ea typeface="Times New Roman Bold"/>
                <a:cs typeface="Times New Roman Bold"/>
                <a:sym typeface="Times New Roman Bold"/>
              </a:rPr>
              <a:t>PROJECT TITLE </a:t>
            </a:r>
            <a:r>
              <a:rPr lang="en-US" sz="3600" b="1" spc="-115" dirty="0">
                <a:solidFill>
                  <a:srgbClr val="FFFFFF"/>
                </a:solidFill>
                <a:latin typeface="Times New Roman Bold" panose="02020803070505020304" pitchFamily="18" charset="0"/>
                <a:ea typeface="Times New Roman Bold"/>
                <a:cs typeface="Times New Roman Bold" panose="02020803070505020304" pitchFamily="18" charset="0"/>
                <a:sym typeface="Times New Roman Bold"/>
              </a:rPr>
              <a:t>:  Health &amp;Fitness -  </a:t>
            </a:r>
            <a:r>
              <a:rPr lang="en-IN" sz="3600" dirty="0">
                <a:solidFill>
                  <a:schemeClr val="bg1"/>
                </a:solidFill>
                <a:latin typeface="Times New Roman Bold" panose="02020803070505020304" pitchFamily="18" charset="0"/>
                <a:cs typeface="Times New Roman Bold" panose="02020803070505020304" pitchFamily="18" charset="0"/>
              </a:rPr>
              <a:t>First Aid Quick Guide</a:t>
            </a:r>
            <a:r>
              <a:rPr lang="en-US" sz="3600" b="1" spc="-115" dirty="0">
                <a:solidFill>
                  <a:schemeClr val="bg1"/>
                </a:solidFill>
                <a:latin typeface="Times New Roman Bold" panose="02020803070505020304" pitchFamily="18" charset="0"/>
                <a:ea typeface="Times New Roman Bold"/>
                <a:cs typeface="Times New Roman Bold" panose="02020803070505020304" pitchFamily="18" charset="0"/>
                <a:sym typeface="Times New Roman Bold"/>
              </a:rPr>
              <a:t> </a:t>
            </a:r>
          </a:p>
        </p:txBody>
      </p:sp>
      <p:sp>
        <p:nvSpPr>
          <p:cNvPr id="11" name="TextBox 11"/>
          <p:cNvSpPr txBox="1"/>
          <p:nvPr/>
        </p:nvSpPr>
        <p:spPr>
          <a:xfrm>
            <a:off x="476504" y="5243019"/>
            <a:ext cx="9353295" cy="557845"/>
          </a:xfrm>
          <a:prstGeom prst="rect">
            <a:avLst/>
          </a:prstGeom>
        </p:spPr>
        <p:txBody>
          <a:bodyPr wrap="square" lIns="0" tIns="0" rIns="0" bIns="0" rtlCol="0" anchor="t">
            <a:spAutoFit/>
          </a:bodyPr>
          <a:lstStyle/>
          <a:p>
            <a:pPr marL="802637" lvl="1" indent="-457200" algn="l">
              <a:lnSpc>
                <a:spcPts val="4831"/>
              </a:lnSpc>
              <a:spcBef>
                <a:spcPct val="0"/>
              </a:spcBef>
              <a:buFont typeface="Arial" panose="020B0604020202020204" pitchFamily="34" charset="0"/>
              <a:buChar char="•"/>
            </a:pPr>
            <a:r>
              <a:rPr lang="en-US" sz="3199" b="1" spc="-115" dirty="0">
                <a:solidFill>
                  <a:srgbClr val="FFFFFF"/>
                </a:solidFill>
                <a:latin typeface="Times New Roman Bold"/>
                <a:ea typeface="Times New Roman Bold"/>
                <a:cs typeface="Times New Roman Bold"/>
                <a:sym typeface="Times New Roman Bold"/>
              </a:rPr>
              <a:t>TEAM NAME:   CODE CRUSADERS </a:t>
            </a:r>
          </a:p>
        </p:txBody>
      </p:sp>
      <p:sp>
        <p:nvSpPr>
          <p:cNvPr id="12" name="TextBox 12"/>
          <p:cNvSpPr txBox="1"/>
          <p:nvPr/>
        </p:nvSpPr>
        <p:spPr>
          <a:xfrm>
            <a:off x="485956" y="6919947"/>
            <a:ext cx="12988744" cy="1788951"/>
          </a:xfrm>
          <a:prstGeom prst="rect">
            <a:avLst/>
          </a:prstGeom>
        </p:spPr>
        <p:txBody>
          <a:bodyPr wrap="square" lIns="0" tIns="0" rIns="0" bIns="0" rtlCol="0" anchor="t">
            <a:spAutoFit/>
          </a:bodyPr>
          <a:lstStyle/>
          <a:p>
            <a:pPr marL="690874" lvl="1" indent="-345437" algn="l">
              <a:lnSpc>
                <a:spcPts val="4831"/>
              </a:lnSpc>
              <a:spcBef>
                <a:spcPct val="0"/>
              </a:spcBef>
              <a:buFont typeface="Arial"/>
              <a:buChar char="•"/>
            </a:pPr>
            <a:r>
              <a:rPr lang="en-US" sz="3199" b="1" spc="-115" dirty="0">
                <a:solidFill>
                  <a:srgbClr val="FFFFFF"/>
                </a:solidFill>
                <a:latin typeface="Times New Roman Bold"/>
                <a:ea typeface="Times New Roman Bold"/>
                <a:cs typeface="Times New Roman Bold"/>
                <a:sym typeface="Times New Roman Bold"/>
              </a:rPr>
              <a:t>TEAM MEMBERS :  CH INDUSHYA   :  25BHI10081</a:t>
            </a:r>
          </a:p>
          <a:p>
            <a:pPr marL="345437" lvl="1" algn="l">
              <a:lnSpc>
                <a:spcPts val="4831"/>
              </a:lnSpc>
              <a:spcBef>
                <a:spcPct val="0"/>
              </a:spcBef>
            </a:pPr>
            <a:r>
              <a:rPr lang="en-US" sz="3199" b="1" spc="-115" dirty="0">
                <a:solidFill>
                  <a:srgbClr val="FFFFFF"/>
                </a:solidFill>
                <a:latin typeface="Times New Roman Bold"/>
                <a:ea typeface="Times New Roman Bold"/>
                <a:cs typeface="Times New Roman Bold"/>
                <a:sym typeface="Times New Roman Bold"/>
              </a:rPr>
              <a:t>                                           KOTTE KEERTHANA: 25BAI10578</a:t>
            </a:r>
          </a:p>
          <a:p>
            <a:pPr marL="345437" lvl="1" algn="l">
              <a:lnSpc>
                <a:spcPts val="4831"/>
              </a:lnSpc>
              <a:spcBef>
                <a:spcPct val="0"/>
              </a:spcBef>
            </a:pPr>
            <a:r>
              <a:rPr lang="en-US" sz="3199" b="1" spc="-115" dirty="0">
                <a:solidFill>
                  <a:srgbClr val="FFFFFF"/>
                </a:solidFill>
                <a:latin typeface="Times New Roman Bold"/>
                <a:ea typeface="Times New Roman Bold"/>
                <a:cs typeface="Times New Roman Bold"/>
                <a:sym typeface="Times New Roman Bold"/>
              </a:rPr>
              <a:t>                                           ANDRA LIKHITHA: 25BHI10061</a:t>
            </a:r>
          </a:p>
        </p:txBody>
      </p:sp>
      <p:sp>
        <p:nvSpPr>
          <p:cNvPr id="13" name="TextBox 12">
            <a:extLst>
              <a:ext uri="{FF2B5EF4-FFF2-40B4-BE49-F238E27FC236}">
                <a16:creationId xmlns:a16="http://schemas.microsoft.com/office/drawing/2014/main" id="{BC43DC93-6932-FCE6-F251-1D8B990C9781}"/>
              </a:ext>
            </a:extLst>
          </p:cNvPr>
          <p:cNvSpPr txBox="1"/>
          <p:nvPr/>
        </p:nvSpPr>
        <p:spPr>
          <a:xfrm>
            <a:off x="1153933" y="9086871"/>
            <a:ext cx="6338170" cy="646331"/>
          </a:xfrm>
          <a:prstGeom prst="rect">
            <a:avLst/>
          </a:prstGeom>
          <a:noFill/>
        </p:spPr>
        <p:txBody>
          <a:bodyPr wrap="square" rtlCol="0">
            <a:spAutoFit/>
          </a:bodyPr>
          <a:lstStyle/>
          <a:p>
            <a:r>
              <a:rPr lang="en-IN" sz="3600" dirty="0">
                <a:solidFill>
                  <a:schemeClr val="bg1"/>
                </a:solidFill>
                <a:latin typeface="Times New Roman Bold" panose="02020803070505020304" pitchFamily="18" charset="0"/>
                <a:cs typeface="Times New Roman Bold" panose="02020803070505020304" pitchFamily="18" charset="0"/>
              </a:rPr>
              <a:t>DATE : 01-04-2026 </a:t>
            </a:r>
            <a:r>
              <a:rPr lang="en-IN" sz="3600" dirty="0"/>
              <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5836741" y="525462"/>
            <a:ext cx="6614517"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PROBLEM   STATEMENT</a:t>
            </a:r>
          </a:p>
        </p:txBody>
      </p:sp>
      <p:sp>
        <p:nvSpPr>
          <p:cNvPr id="4" name="TextBox 4"/>
          <p:cNvSpPr txBox="1"/>
          <p:nvPr/>
        </p:nvSpPr>
        <p:spPr>
          <a:xfrm>
            <a:off x="1078780" y="3181985"/>
            <a:ext cx="14796219" cy="1161344"/>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PROBLEM –  FIRST AID QUICK GUIDE</a:t>
            </a:r>
          </a:p>
          <a:p>
            <a:pPr marL="367028" lvl="1" algn="l">
              <a:lnSpc>
                <a:spcPts val="4759"/>
              </a:lnSpc>
              <a:spcBef>
                <a:spcPct val="0"/>
              </a:spcBef>
            </a:pP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A  concise, actionable summary of  essential lifesaving steps, designed for immediate reference during emergencies</a:t>
            </a:r>
          </a:p>
        </p:txBody>
      </p:sp>
      <p:sp>
        <p:nvSpPr>
          <p:cNvPr id="5" name="TextBox 5"/>
          <p:cNvSpPr txBox="1"/>
          <p:nvPr/>
        </p:nvSpPr>
        <p:spPr>
          <a:xfrm>
            <a:off x="1057201" y="4945082"/>
            <a:ext cx="14607785" cy="1776897"/>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Who is affected by this problem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A first aid quick guide is mainly for anyone facing a sudden medical emergency, such as choking, bleeding, burns, or cardiac arrest. It offers immediate, life-saving care. It also helps bystanders or first responders stabilize a person in need until professional medical help arrives.</a:t>
            </a:r>
          </a:p>
        </p:txBody>
      </p:sp>
      <p:sp>
        <p:nvSpPr>
          <p:cNvPr id="6" name="TextBox 6"/>
          <p:cNvSpPr txBox="1"/>
          <p:nvPr/>
        </p:nvSpPr>
        <p:spPr>
          <a:xfrm>
            <a:off x="1016156" y="6869174"/>
            <a:ext cx="14921465" cy="3641574"/>
          </a:xfrm>
          <a:prstGeom prst="rect">
            <a:avLst/>
          </a:prstGeom>
        </p:spPr>
        <p:txBody>
          <a:bodyPr wrap="square" lIns="0" tIns="0" rIns="0" bIns="0" rtlCol="0" anchor="t">
            <a:spAutoFit/>
          </a:bodyPr>
          <a:lstStyle/>
          <a:p>
            <a:pPr marL="734056" lvl="1" indent="-367028" algn="l">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Why this problem is important ?</a:t>
            </a:r>
          </a:p>
          <a:p>
            <a:pPr marL="367028" lvl="1">
              <a:lnSpc>
                <a:spcPts val="4759"/>
              </a:lnSpc>
              <a:spcBef>
                <a:spcPct val="0"/>
              </a:spcBef>
            </a:pP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The most important reason to learn first aid is that it can save lives. This is especially important in situations where medical help might take time to arrive. Knowing first aid allows you to act quickly to stop injuries or illnesses from getting worse. First aid training boosts confidence and preparedness for handling emergencies. Having first aid knowledge is an essential skill that empowers you to respond effectively.</a:t>
            </a:r>
          </a:p>
          <a:p>
            <a:pPr marL="734056" lvl="1" indent="-367028" algn="l">
              <a:lnSpc>
                <a:spcPts val="4759"/>
              </a:lnSpc>
              <a:spcBef>
                <a:spcPct val="0"/>
              </a:spcBef>
              <a:buFont typeface="Arial"/>
              <a:buChar char="•"/>
            </a:pPr>
            <a:endParaRPr lang="en-US" sz="3399" b="1" spc="-271" dirty="0">
              <a:solidFill>
                <a:srgbClr val="FFFFFF"/>
              </a:solidFill>
              <a:latin typeface="Times New Roman Bold"/>
              <a:ea typeface="Times New Roman Bold"/>
              <a:cs typeface="Times New Roman Bold"/>
              <a:sym typeface="Times New Roman Bold"/>
            </a:endParaRPr>
          </a:p>
        </p:txBody>
      </p:sp>
      <p:grpSp>
        <p:nvGrpSpPr>
          <p:cNvPr id="7" name="Group 7"/>
          <p:cNvGrpSpPr/>
          <p:nvPr/>
        </p:nvGrpSpPr>
        <p:grpSpPr>
          <a:xfrm>
            <a:off x="1057201" y="2269263"/>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686566" y="0"/>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91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4369709" y="525462"/>
            <a:ext cx="9308753"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EXISTING  SOLUTIONS  AND  GAPS</a:t>
            </a:r>
          </a:p>
        </p:txBody>
      </p:sp>
      <p:sp>
        <p:nvSpPr>
          <p:cNvPr id="4" name="TextBox 4"/>
          <p:cNvSpPr txBox="1"/>
          <p:nvPr/>
        </p:nvSpPr>
        <p:spPr>
          <a:xfrm>
            <a:off x="1221872" y="2920597"/>
            <a:ext cx="16431128" cy="3008003"/>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List of existing Solutions</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Several first aid quick guide solutions exist in the market, ranging from physical, waterproof pocket guides to advanced mobile applications and digital, interactive tools. These solutions are designed to bridge the gap between panic and professional medical care, providing instant step-by-step instructions for emergencies. </a:t>
            </a:r>
          </a:p>
          <a:p>
            <a:pPr marL="367028" lvl="1">
              <a:lnSpc>
                <a:spcPts val="4759"/>
              </a:lnSpc>
              <a:spcBef>
                <a:spcPct val="0"/>
              </a:spcBef>
            </a:pPr>
            <a:r>
              <a:rPr lang="en-US" sz="24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Ex: India's Official First Aid App , Red Cross First Aid App, Pocket First Aid &amp; CPR</a:t>
            </a:r>
          </a:p>
          <a:p>
            <a:pPr marL="734056" lvl="1" indent="-367028">
              <a:lnSpc>
                <a:spcPts val="4759"/>
              </a:lnSpc>
              <a:spcBef>
                <a:spcPct val="0"/>
              </a:spcBef>
              <a:buFont typeface="Arial"/>
              <a:buChar char="•"/>
            </a:pPr>
            <a:endPar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5" name="TextBox 5"/>
          <p:cNvSpPr txBox="1"/>
          <p:nvPr/>
        </p:nvSpPr>
        <p:spPr>
          <a:xfrm>
            <a:off x="1257805" y="5643413"/>
            <a:ext cx="15696695" cy="1161344"/>
          </a:xfrm>
          <a:prstGeom prst="rect">
            <a:avLst/>
          </a:prstGeom>
        </p:spPr>
        <p:txBody>
          <a:bodyPr wrap="square" lIns="0" tIns="0" rIns="0" bIns="0" rtlCol="0" anchor="t">
            <a:spAutoFit/>
          </a:bodyPr>
          <a:lstStyle/>
          <a:p>
            <a:pPr marL="824228" lvl="1" indent="-457200">
              <a:lnSpc>
                <a:spcPts val="4759"/>
              </a:lnSpc>
              <a:spcBef>
                <a:spcPct val="0"/>
              </a:spcBef>
              <a:buFont typeface="Arial" panose="020B0604020202020204" pitchFamily="34" charset="0"/>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Their Limitations: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Reliance on user confidence and training , Time and resource constraints, Safety concerns and legal liability, Limited Evidence in some areas, High failure rates in specific emergencies, Difficulty in recognizing symptoms.</a:t>
            </a:r>
          </a:p>
        </p:txBody>
      </p:sp>
      <p:sp>
        <p:nvSpPr>
          <p:cNvPr id="6" name="TextBox 6"/>
          <p:cNvSpPr txBox="1"/>
          <p:nvPr/>
        </p:nvSpPr>
        <p:spPr>
          <a:xfrm>
            <a:off x="1221872" y="7387817"/>
            <a:ext cx="16374483" cy="1161344"/>
          </a:xfrm>
          <a:prstGeom prst="rect">
            <a:avLst/>
          </a:prstGeom>
        </p:spPr>
        <p:txBody>
          <a:bodyPr wrap="square" lIns="0" tIns="0" rIns="0" bIns="0" rtlCol="0" anchor="t">
            <a:spAutoFit/>
          </a:bodyPr>
          <a:lstStyle/>
          <a:p>
            <a:pPr marL="824228" lvl="1" indent="-457200">
              <a:lnSpc>
                <a:spcPts val="4759"/>
              </a:lnSpc>
              <a:spcBef>
                <a:spcPct val="0"/>
              </a:spcBef>
              <a:buFont typeface="Arial" panose="020B0604020202020204" pitchFamily="34" charset="0"/>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The gap this project will address: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Information overload vs immediate need , Lack of confidence and preparedness, Accessibility under stress, Knowledge gaps in specific techniques, Empowering immediate action, Bridge to professional care.</a:t>
            </a:r>
          </a:p>
        </p:txBody>
      </p:sp>
      <p:grpSp>
        <p:nvGrpSpPr>
          <p:cNvPr id="7" name="Group 7"/>
          <p:cNvGrpSpPr/>
          <p:nvPr/>
        </p:nvGrpSpPr>
        <p:grpSpPr>
          <a:xfrm>
            <a:off x="1257805" y="1774280"/>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792349" y="0"/>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6113000" y="525462"/>
            <a:ext cx="6320879"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PROPOSED  SOLUTION </a:t>
            </a:r>
          </a:p>
        </p:txBody>
      </p:sp>
      <p:sp>
        <p:nvSpPr>
          <p:cNvPr id="4" name="TextBox 4"/>
          <p:cNvSpPr txBox="1"/>
          <p:nvPr/>
        </p:nvSpPr>
        <p:spPr>
          <a:xfrm>
            <a:off x="1250042" y="2816226"/>
            <a:ext cx="15806058" cy="1776897"/>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Solution: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In</a:t>
            </a:r>
            <a:r>
              <a:rPr lang="en-US" sz="2800" dirty="0">
                <a:solidFill>
                  <a:schemeClr val="bg1"/>
                </a:solidFill>
                <a:latin typeface="Times New Roman" panose="02020603050405020304" pitchFamily="18" charset="0"/>
                <a:cs typeface="Times New Roman" panose="02020603050405020304" pitchFamily="18" charset="0"/>
              </a:rPr>
              <a:t> emergency situations, people often panic and don’t know what to do. Our solution is a First Aid Quick Guide that acts like a calm assistant in our pocket. It gives clear step by step instructions so that anyone, even without medical knowledge, can take immediate action and help save a life</a:t>
            </a:r>
            <a:r>
              <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 </a:t>
            </a:r>
          </a:p>
        </p:txBody>
      </p:sp>
      <p:sp>
        <p:nvSpPr>
          <p:cNvPr id="5" name="TextBox 5"/>
          <p:cNvSpPr txBox="1"/>
          <p:nvPr/>
        </p:nvSpPr>
        <p:spPr>
          <a:xfrm>
            <a:off x="1699083" y="5090295"/>
            <a:ext cx="16009258" cy="3016210"/>
          </a:xfrm>
          <a:prstGeom prst="rect">
            <a:avLst/>
          </a:prstGeom>
        </p:spPr>
        <p:txBody>
          <a:bodyPr wrap="square" lIns="0" tIns="0" rIns="0" bIns="0" rtlCol="0" anchor="t">
            <a:spAutoFit/>
          </a:bodyPr>
          <a:lstStyle/>
          <a:p>
            <a:pPr marL="457200" lvl="0" indent="-457200" eaLnBrk="0" fontAlgn="base" hangingPunct="0">
              <a:spcBef>
                <a:spcPct val="0"/>
              </a:spcBef>
              <a:spcAft>
                <a:spcPct val="0"/>
              </a:spcAft>
              <a:buFont typeface="Arial" panose="020B0604020202020204" pitchFamily="34" charset="0"/>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List key features:</a:t>
            </a:r>
            <a:endParaRPr lang="en-US" altLang="en-US" sz="28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Simple and quick selection of first aid emergency type (burns, cuts, choking, etc.)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Easy-to-follow step-by-step guidance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Clean and understandable interface</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Works even with limited or no internet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One-tap emergency contact option help</a:t>
            </a:r>
          </a:p>
          <a:p>
            <a:pPr lvl="0" eaLnBrk="0" fontAlgn="base" hangingPunct="0">
              <a:spcBef>
                <a:spcPct val="0"/>
              </a:spcBef>
              <a:spcAft>
                <a:spcPct val="0"/>
              </a:spcAft>
              <a:buFontTx/>
              <a:buChar char="•"/>
            </a:pPr>
            <a:r>
              <a:rPr lang="en-US" altLang="en-US" dirty="0">
                <a:latin typeface="Arial" panose="020B0604020202020204" pitchFamily="34" charset="0"/>
              </a:rPr>
              <a:t>Optional voice guidance for hands-free </a:t>
            </a: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a:t>
            </a:r>
          </a:p>
        </p:txBody>
      </p:sp>
      <p:sp>
        <p:nvSpPr>
          <p:cNvPr id="6" name="TextBox 6"/>
          <p:cNvSpPr txBox="1"/>
          <p:nvPr/>
        </p:nvSpPr>
        <p:spPr>
          <a:xfrm>
            <a:off x="1250042" y="8106505"/>
            <a:ext cx="16250558" cy="1776897"/>
          </a:xfrm>
          <a:prstGeom prst="rect">
            <a:avLst/>
          </a:prstGeom>
        </p:spPr>
        <p:txBody>
          <a:bodyPr wrap="square" lIns="0" tIns="0" rIns="0" bIns="0" rtlCol="0" anchor="t">
            <a:spAutoFit/>
          </a:bodyPr>
          <a:lstStyle/>
          <a:p>
            <a:pPr marL="824228" lvl="1" indent="-457200">
              <a:lnSpc>
                <a:spcPts val="4759"/>
              </a:lnSpc>
              <a:spcBef>
                <a:spcPct val="0"/>
              </a:spcBef>
              <a:buFont typeface="Arial" panose="020B0604020202020204" pitchFamily="34" charset="0"/>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How it solves the problem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a:t>
            </a:r>
            <a:r>
              <a:rPr lang="en-US" sz="2800" dirty="0">
                <a:solidFill>
                  <a:schemeClr val="bg1"/>
                </a:solidFill>
                <a:latin typeface="Times New Roman" panose="02020603050405020304" pitchFamily="18" charset="0"/>
                <a:cs typeface="Times New Roman" panose="02020603050405020304" pitchFamily="18" charset="0"/>
              </a:rPr>
              <a:t>Instead of leaving people confused, our app guides them in real life. It reduces panic, saves valuable time, and helps users take the right actions during the most critical times before professional help arrives.</a:t>
            </a:r>
            <a:endParaRPr lang="en-US" sz="2800"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p:txBody>
      </p:sp>
      <p:grpSp>
        <p:nvGrpSpPr>
          <p:cNvPr id="7" name="Group 7"/>
          <p:cNvGrpSpPr/>
          <p:nvPr/>
        </p:nvGrpSpPr>
        <p:grpSpPr>
          <a:xfrm>
            <a:off x="1028700" y="1783601"/>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812308" y="170267"/>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5742232" y="396022"/>
            <a:ext cx="7099399"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 SYSTEM ARCHITECTURE</a:t>
            </a:r>
          </a:p>
        </p:txBody>
      </p:sp>
      <p:sp>
        <p:nvSpPr>
          <p:cNvPr id="4" name="TextBox 4"/>
          <p:cNvSpPr txBox="1"/>
          <p:nvPr/>
        </p:nvSpPr>
        <p:spPr>
          <a:xfrm>
            <a:off x="1046972" y="2885430"/>
            <a:ext cx="16898128" cy="1776897"/>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Include architecture diagram: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User ] → [ Frontend (App/UI) ] → [ Backend Server ] → [ Database ]</a:t>
            </a:r>
          </a:p>
          <a:p>
            <a:pPr marL="367028" lvl="1">
              <a:lnSpc>
                <a:spcPts val="4759"/>
              </a:lnSpc>
              <a:spcBef>
                <a:spcPct val="0"/>
              </a:spcBef>
            </a:pP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a:t>
            </a:r>
          </a:p>
          <a:p>
            <a:pPr marL="367028" lvl="1">
              <a:lnSpc>
                <a:spcPts val="4759"/>
              </a:lnSpc>
              <a:spcBef>
                <a:spcPct val="0"/>
              </a:spcBef>
            </a:pP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[API’s]  (Location | Call | Voice)</a:t>
            </a:r>
            <a:endParaRPr lang="en-US" sz="2800"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5" name="TextBox 5"/>
          <p:cNvSpPr txBox="1"/>
          <p:nvPr/>
        </p:nvSpPr>
        <p:spPr>
          <a:xfrm>
            <a:off x="1699083" y="5302432"/>
            <a:ext cx="17241102" cy="2330895"/>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Main components :</a:t>
            </a:r>
            <a:r>
              <a:rPr lang="en-US" altLang="en-US" sz="2800" b="1" dirty="0">
                <a:solidFill>
                  <a:schemeClr val="bg1"/>
                </a:solidFill>
                <a:latin typeface="Times New Roman" panose="02020603050405020304" pitchFamily="18" charset="0"/>
                <a:cs typeface="Times New Roman" panose="02020603050405020304" pitchFamily="18" charset="0"/>
              </a:rPr>
              <a:t>Frontend:</a:t>
            </a:r>
            <a:r>
              <a:rPr lang="en-US" altLang="en-US" dirty="0">
                <a:solidFill>
                  <a:schemeClr val="bg1"/>
                </a:solidFill>
                <a:latin typeface="Arial" panose="020B0604020202020204" pitchFamily="34" charset="0"/>
              </a:rPr>
              <a:t> </a:t>
            </a:r>
            <a:r>
              <a:rPr lang="en-US" altLang="en-US" sz="2800" dirty="0">
                <a:solidFill>
                  <a:schemeClr val="bg1"/>
                </a:solidFill>
                <a:latin typeface="Times New Roman" panose="02020603050405020304" pitchFamily="18" charset="0"/>
                <a:cs typeface="Times New Roman" panose="02020603050405020304" pitchFamily="18" charset="0"/>
              </a:rPr>
              <a:t>The part users interact with (mobile/web interface) </a:t>
            </a:r>
          </a:p>
          <a:p>
            <a:pPr lvl="0" eaLnBrk="0" fontAlgn="base" hangingPunct="0">
              <a:spcBef>
                <a:spcPct val="0"/>
              </a:spcBef>
              <a:spcAft>
                <a:spcPct val="0"/>
              </a:spcAft>
              <a:buFontTx/>
              <a:buChar char="•"/>
            </a:pPr>
            <a:r>
              <a:rPr lang="en-US" altLang="en-US" sz="2800" b="1" dirty="0">
                <a:solidFill>
                  <a:schemeClr val="bg1"/>
                </a:solidFill>
                <a:latin typeface="Times New Roman" panose="02020603050405020304" pitchFamily="18" charset="0"/>
                <a:cs typeface="Times New Roman" panose="02020603050405020304" pitchFamily="18" charset="0"/>
              </a:rPr>
              <a:t>Backend:</a:t>
            </a:r>
            <a:r>
              <a:rPr lang="en-US" altLang="en-US" sz="2800" dirty="0">
                <a:solidFill>
                  <a:schemeClr val="bg1"/>
                </a:solidFill>
                <a:latin typeface="Times New Roman" panose="02020603050405020304" pitchFamily="18" charset="0"/>
                <a:cs typeface="Times New Roman" panose="02020603050405020304" pitchFamily="18" charset="0"/>
              </a:rPr>
              <a:t> Handles the logic and processes user requests </a:t>
            </a:r>
          </a:p>
          <a:p>
            <a:pPr lvl="0" eaLnBrk="0" fontAlgn="base" hangingPunct="0">
              <a:spcBef>
                <a:spcPct val="0"/>
              </a:spcBef>
              <a:spcAft>
                <a:spcPct val="0"/>
              </a:spcAft>
              <a:buFontTx/>
              <a:buChar char="•"/>
            </a:pPr>
            <a:r>
              <a:rPr lang="en-US" altLang="en-US" sz="2800" b="1" dirty="0">
                <a:solidFill>
                  <a:schemeClr val="bg1"/>
                </a:solidFill>
                <a:latin typeface="Times New Roman" panose="02020603050405020304" pitchFamily="18" charset="0"/>
                <a:cs typeface="Times New Roman" panose="02020603050405020304" pitchFamily="18" charset="0"/>
              </a:rPr>
              <a:t>Database:</a:t>
            </a:r>
            <a:r>
              <a:rPr lang="en-US" altLang="en-US" sz="2800" dirty="0">
                <a:solidFill>
                  <a:schemeClr val="bg1"/>
                </a:solidFill>
                <a:latin typeface="Times New Roman" panose="02020603050405020304" pitchFamily="18" charset="0"/>
                <a:cs typeface="Times New Roman" panose="02020603050405020304" pitchFamily="18" charset="0"/>
              </a:rPr>
              <a:t> Stores all first aid instructions and emergency data </a:t>
            </a:r>
          </a:p>
          <a:p>
            <a:pPr lvl="0" eaLnBrk="0" fontAlgn="base" hangingPunct="0">
              <a:spcBef>
                <a:spcPct val="0"/>
              </a:spcBef>
              <a:spcAft>
                <a:spcPct val="0"/>
              </a:spcAft>
              <a:buFontTx/>
              <a:buChar char="•"/>
            </a:pPr>
            <a:r>
              <a:rPr lang="en-US" altLang="en-US" sz="2800" b="1" dirty="0">
                <a:solidFill>
                  <a:schemeClr val="bg1"/>
                </a:solidFill>
                <a:latin typeface="Times New Roman" panose="02020603050405020304" pitchFamily="18" charset="0"/>
                <a:cs typeface="Times New Roman" panose="02020603050405020304" pitchFamily="18" charset="0"/>
              </a:rPr>
              <a:t>APIs:</a:t>
            </a:r>
            <a:r>
              <a:rPr lang="en-US" altLang="en-US" sz="2800" dirty="0">
                <a:solidFill>
                  <a:schemeClr val="bg1"/>
                </a:solidFill>
                <a:latin typeface="Times New Roman" panose="02020603050405020304" pitchFamily="18" charset="0"/>
                <a:cs typeface="Times New Roman" panose="02020603050405020304" pitchFamily="18" charset="0"/>
              </a:rPr>
              <a:t> Used for features like location and emergency contact </a:t>
            </a:r>
          </a:p>
          <a:p>
            <a:pPr marL="734056" lvl="1" indent="-367028" algn="l">
              <a:lnSpc>
                <a:spcPts val="4759"/>
              </a:lnSpc>
              <a:spcBef>
                <a:spcPct val="0"/>
              </a:spcBef>
              <a:buFont typeface="Arial"/>
              <a:buChar char="•"/>
            </a:pPr>
            <a:endPar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6" name="TextBox 6"/>
          <p:cNvSpPr txBox="1"/>
          <p:nvPr/>
        </p:nvSpPr>
        <p:spPr>
          <a:xfrm>
            <a:off x="1046972" y="7849344"/>
            <a:ext cx="16060002" cy="1776897"/>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Explain data flow briefly: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When</a:t>
            </a:r>
            <a:r>
              <a:rPr lang="en-US" sz="2800" dirty="0">
                <a:solidFill>
                  <a:schemeClr val="bg1"/>
                </a:solidFill>
                <a:latin typeface="Times New Roman" panose="02020603050405020304" pitchFamily="18" charset="0"/>
                <a:cs typeface="Times New Roman" panose="02020603050405020304" pitchFamily="18" charset="0"/>
              </a:rPr>
              <a:t> a user selects or searches a situation, the app sends a request to the system. The system quickly finds the correct first aid steps and sends them back to the user interface, where they are displayed the required first aid clearly.</a:t>
            </a:r>
            <a:r>
              <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 </a:t>
            </a:r>
            <a:endPar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grpSp>
        <p:nvGrpSpPr>
          <p:cNvPr id="7" name="Group 7"/>
          <p:cNvGrpSpPr/>
          <p:nvPr/>
        </p:nvGrpSpPr>
        <p:grpSpPr>
          <a:xfrm>
            <a:off x="1176631" y="1549207"/>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873523" y="0"/>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3954672" y="396022"/>
            <a:ext cx="10896416"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FLOWCHART  /  WORKING PROCESS </a:t>
            </a:r>
          </a:p>
        </p:txBody>
      </p:sp>
      <p:sp>
        <p:nvSpPr>
          <p:cNvPr id="4" name="TextBox 4"/>
          <p:cNvSpPr txBox="1"/>
          <p:nvPr/>
        </p:nvSpPr>
        <p:spPr>
          <a:xfrm>
            <a:off x="887331" y="2287989"/>
            <a:ext cx="17031097" cy="2585323"/>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Step-by-step working: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The</a:t>
            </a:r>
            <a:r>
              <a:rPr lang="en-US" altLang="en-US" sz="2800" dirty="0">
                <a:solidFill>
                  <a:schemeClr val="bg1"/>
                </a:solidFill>
                <a:latin typeface="Times New Roman" panose="02020603050405020304" pitchFamily="18" charset="0"/>
                <a:cs typeface="Times New Roman" panose="02020603050405020304" pitchFamily="18" charset="0"/>
              </a:rPr>
              <a:t> user opens the app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Selects or searches the type of emergency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The system processes the request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Step-by-step instructions are shown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User follows the guidance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Option to call emergency services if needed </a:t>
            </a:r>
          </a:p>
        </p:txBody>
      </p:sp>
      <p:sp>
        <p:nvSpPr>
          <p:cNvPr id="5" name="TextBox 5"/>
          <p:cNvSpPr txBox="1"/>
          <p:nvPr/>
        </p:nvSpPr>
        <p:spPr>
          <a:xfrm>
            <a:off x="774378" y="5581160"/>
            <a:ext cx="16396022" cy="1838452"/>
          </a:xfrm>
          <a:prstGeom prst="rect">
            <a:avLst/>
          </a:prstGeom>
        </p:spPr>
        <p:txBody>
          <a:bodyPr wrap="square" lIns="0" tIns="0" rIns="0" bIns="0" rtlCol="0" anchor="t">
            <a:spAutoFit/>
          </a:bodyPr>
          <a:lstStyle/>
          <a:p>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User flow or system flow: </a:t>
            </a:r>
          </a:p>
          <a:p>
            <a:r>
              <a:rPr lang="en-US" sz="2800" dirty="0">
                <a:solidFill>
                  <a:schemeClr val="bg1"/>
                </a:solidFill>
                <a:latin typeface="Times New Roman" panose="02020603050405020304" pitchFamily="18" charset="0"/>
                <a:cs typeface="Times New Roman" panose="02020603050405020304" pitchFamily="18" charset="0"/>
              </a:rPr>
              <a:t>User gives input → System processes → System provides output </a:t>
            </a:r>
          </a:p>
          <a:p>
            <a:r>
              <a:rPr lang="en-US" sz="2800" dirty="0">
                <a:solidFill>
                  <a:schemeClr val="bg1"/>
                </a:solidFill>
                <a:latin typeface="Times New Roman" panose="02020603050405020304" pitchFamily="18" charset="0"/>
                <a:cs typeface="Times New Roman" panose="02020603050405020304" pitchFamily="18" charset="0"/>
              </a:rPr>
              <a:t>Continuous guidance until the user completes the steps </a:t>
            </a:r>
          </a:p>
          <a:p>
            <a:pPr marL="824228" lvl="1" indent="-457200">
              <a:lnSpc>
                <a:spcPts val="4759"/>
              </a:lnSpc>
              <a:spcBef>
                <a:spcPct val="0"/>
              </a:spcBef>
              <a:buFont typeface="Arial" panose="020B0604020202020204" pitchFamily="34" charset="0"/>
              <a:buChar char="•"/>
            </a:pPr>
            <a:endPar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6" name="TextBox 6"/>
          <p:cNvSpPr txBox="1"/>
          <p:nvPr/>
        </p:nvSpPr>
        <p:spPr>
          <a:xfrm>
            <a:off x="774378" y="7680633"/>
            <a:ext cx="15519797" cy="1776897"/>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Flowchart: </a:t>
            </a:r>
          </a:p>
          <a:p>
            <a:pPr marL="367028" lvl="1">
              <a:lnSpc>
                <a:spcPts val="4759"/>
              </a:lnSpc>
              <a:spcBef>
                <a:spcPct val="0"/>
              </a:spcBef>
            </a:pP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Start → Open App → Select  or search Emergency → Process → Show Steps → Follow Steps → End / Call Help</a:t>
            </a:r>
          </a:p>
          <a:p>
            <a:pPr marL="734056" lvl="1" indent="-367028" algn="l">
              <a:lnSpc>
                <a:spcPts val="4759"/>
              </a:lnSpc>
              <a:spcBef>
                <a:spcPct val="0"/>
              </a:spcBef>
              <a:buFont typeface="Arial"/>
              <a:buChar char="•"/>
            </a:pPr>
            <a:endPar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grpSp>
        <p:nvGrpSpPr>
          <p:cNvPr id="7" name="Group 7"/>
          <p:cNvGrpSpPr/>
          <p:nvPr/>
        </p:nvGrpSpPr>
        <p:grpSpPr>
          <a:xfrm>
            <a:off x="1287580" y="1549207"/>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696772" y="0"/>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33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7294513" y="377531"/>
            <a:ext cx="3698974"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TECH  STACK</a:t>
            </a:r>
          </a:p>
        </p:txBody>
      </p:sp>
      <p:sp>
        <p:nvSpPr>
          <p:cNvPr id="4" name="TextBox 4"/>
          <p:cNvSpPr txBox="1"/>
          <p:nvPr/>
        </p:nvSpPr>
        <p:spPr>
          <a:xfrm>
            <a:off x="1190812" y="2792671"/>
            <a:ext cx="16361913" cy="2392450"/>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Frontend technologies</a:t>
            </a:r>
            <a:r>
              <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 </a:t>
            </a:r>
            <a:r>
              <a:rPr lang="en-US" sz="2800" dirty="0">
                <a:solidFill>
                  <a:schemeClr val="bg1"/>
                </a:solidFill>
                <a:latin typeface="Times New Roman" panose="02020603050405020304" pitchFamily="18" charset="0"/>
                <a:cs typeface="Times New Roman" panose="02020603050405020304" pitchFamily="18" charset="0"/>
              </a:rPr>
              <a:t>We use </a:t>
            </a:r>
            <a:r>
              <a:rPr lang="en-US" sz="2800" b="1" dirty="0">
                <a:solidFill>
                  <a:schemeClr val="bg1"/>
                </a:solidFill>
                <a:latin typeface="Times New Roman" panose="02020603050405020304" pitchFamily="18" charset="0"/>
                <a:cs typeface="Times New Roman" panose="02020603050405020304" pitchFamily="18" charset="0"/>
              </a:rPr>
              <a:t>HTML, CSS, and JavaScript</a:t>
            </a:r>
            <a:r>
              <a:rPr lang="en-US" sz="2800" dirty="0">
                <a:solidFill>
                  <a:schemeClr val="bg1"/>
                </a:solidFill>
                <a:latin typeface="Times New Roman" panose="02020603050405020304" pitchFamily="18" charset="0"/>
                <a:cs typeface="Times New Roman" panose="02020603050405020304" pitchFamily="18" charset="0"/>
              </a:rPr>
              <a:t> to design a clean and simple interface. The goal is to make the app easy to use even in stressful situations, so users can quickly find what they need without confusion.</a:t>
            </a:r>
          </a:p>
          <a:p>
            <a:pPr marL="734056" lvl="1" indent="-367028" algn="l">
              <a:lnSpc>
                <a:spcPts val="4759"/>
              </a:lnSpc>
              <a:spcBef>
                <a:spcPct val="0"/>
              </a:spcBef>
              <a:buFont typeface="Arial"/>
              <a:buChar char="•"/>
            </a:pPr>
            <a:endPar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5" name="TextBox 5"/>
          <p:cNvSpPr txBox="1"/>
          <p:nvPr/>
        </p:nvSpPr>
        <p:spPr>
          <a:xfrm>
            <a:off x="1125231" y="4800917"/>
            <a:ext cx="16361837" cy="1161344"/>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Backend technologies: </a:t>
            </a:r>
            <a:r>
              <a:rPr lang="en-US" sz="2800" dirty="0">
                <a:solidFill>
                  <a:schemeClr val="bg1"/>
                </a:solidFill>
                <a:latin typeface="Times New Roman" panose="02020603050405020304" pitchFamily="18" charset="0"/>
                <a:cs typeface="Times New Roman" panose="02020603050405020304" pitchFamily="18" charset="0"/>
              </a:rPr>
              <a:t>The backend is built using </a:t>
            </a:r>
            <a:r>
              <a:rPr lang="en-US" sz="2800" b="1" dirty="0">
                <a:solidFill>
                  <a:schemeClr val="bg1"/>
                </a:solidFill>
                <a:latin typeface="Times New Roman" panose="02020603050405020304" pitchFamily="18" charset="0"/>
                <a:cs typeface="Times New Roman" panose="02020603050405020304" pitchFamily="18" charset="0"/>
              </a:rPr>
              <a:t>Node.js and Python </a:t>
            </a:r>
            <a:r>
              <a:rPr lang="en-US" sz="2800" dirty="0">
                <a:solidFill>
                  <a:schemeClr val="bg1"/>
                </a:solidFill>
                <a:latin typeface="Times New Roman" panose="02020603050405020304" pitchFamily="18" charset="0"/>
                <a:cs typeface="Times New Roman" panose="02020603050405020304" pitchFamily="18" charset="0"/>
              </a:rPr>
              <a:t>. It works behind the scenes to </a:t>
            </a:r>
            <a:r>
              <a:rPr lang="en-US" sz="2800" b="1" dirty="0">
                <a:solidFill>
                  <a:schemeClr val="bg1"/>
                </a:solidFill>
                <a:latin typeface="Times New Roman" panose="02020603050405020304" pitchFamily="18" charset="0"/>
                <a:cs typeface="Times New Roman" panose="02020603050405020304" pitchFamily="18" charset="0"/>
              </a:rPr>
              <a:t>process </a:t>
            </a:r>
            <a:r>
              <a:rPr lang="en-US" sz="2800" dirty="0">
                <a:solidFill>
                  <a:schemeClr val="bg1"/>
                </a:solidFill>
                <a:latin typeface="Times New Roman" panose="02020603050405020304" pitchFamily="18" charset="0"/>
                <a:cs typeface="Times New Roman" panose="02020603050405020304" pitchFamily="18" charset="0"/>
              </a:rPr>
              <a:t>user input and deliver the correct first aid steps instantly, ensuring there is no delay during emergencies.</a:t>
            </a:r>
            <a:endPar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6" name="TextBox 6"/>
          <p:cNvSpPr txBox="1"/>
          <p:nvPr/>
        </p:nvSpPr>
        <p:spPr>
          <a:xfrm>
            <a:off x="1125155" y="6648133"/>
            <a:ext cx="16427569" cy="1161344"/>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Database</a:t>
            </a:r>
            <a:r>
              <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 </a:t>
            </a:r>
            <a:r>
              <a:rPr lang="en-US" sz="2800" dirty="0">
                <a:solidFill>
                  <a:schemeClr val="bg1"/>
                </a:solidFill>
                <a:latin typeface="Times New Roman" panose="02020603050405020304" pitchFamily="18" charset="0"/>
                <a:cs typeface="Times New Roman" panose="02020603050405020304" pitchFamily="18" charset="0"/>
              </a:rPr>
              <a:t>We use </a:t>
            </a:r>
            <a:r>
              <a:rPr lang="en-US" sz="2800" b="1" dirty="0">
                <a:solidFill>
                  <a:schemeClr val="bg1"/>
                </a:solidFill>
                <a:latin typeface="Times New Roman" panose="02020603050405020304" pitchFamily="18" charset="0"/>
                <a:cs typeface="Times New Roman" panose="02020603050405020304" pitchFamily="18" charset="0"/>
              </a:rPr>
              <a:t>Firebase or MongoDB</a:t>
            </a:r>
            <a:r>
              <a:rPr lang="en-US" sz="2800" dirty="0">
                <a:solidFill>
                  <a:schemeClr val="bg1"/>
                </a:solidFill>
                <a:latin typeface="Times New Roman" panose="02020603050405020304" pitchFamily="18" charset="0"/>
                <a:cs typeface="Times New Roman" panose="02020603050405020304" pitchFamily="18" charset="0"/>
              </a:rPr>
              <a:t> to store all the first aid information. This allows the app to quickly access and display the right guidance whenever needed.</a:t>
            </a:r>
          </a:p>
        </p:txBody>
      </p:sp>
      <p:sp>
        <p:nvSpPr>
          <p:cNvPr id="7" name="TextBox 7"/>
          <p:cNvSpPr txBox="1"/>
          <p:nvPr/>
        </p:nvSpPr>
        <p:spPr>
          <a:xfrm>
            <a:off x="1157984" y="8234885"/>
            <a:ext cx="16427568" cy="1776897"/>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Tools and APIs used : </a:t>
            </a:r>
            <a:r>
              <a:rPr lang="en-US" sz="2800" dirty="0">
                <a:solidFill>
                  <a:schemeClr val="bg1"/>
                </a:solidFill>
                <a:latin typeface="Times New Roman" panose="02020603050405020304" pitchFamily="18" charset="0"/>
                <a:cs typeface="Times New Roman" panose="02020603050405020304" pitchFamily="18" charset="0"/>
              </a:rPr>
              <a:t>We use </a:t>
            </a:r>
            <a:r>
              <a:rPr lang="en-US" sz="2800" b="1" dirty="0">
                <a:solidFill>
                  <a:schemeClr val="bg1"/>
                </a:solidFill>
                <a:latin typeface="Times New Roman" panose="02020603050405020304" pitchFamily="18" charset="0"/>
                <a:cs typeface="Times New Roman" panose="02020603050405020304" pitchFamily="18" charset="0"/>
              </a:rPr>
              <a:t>Firebase or MongoDB</a:t>
            </a:r>
            <a:r>
              <a:rPr lang="en-US" sz="2800" dirty="0">
                <a:solidFill>
                  <a:schemeClr val="bg1"/>
                </a:solidFill>
                <a:latin typeface="Times New Roman" panose="02020603050405020304" pitchFamily="18" charset="0"/>
                <a:cs typeface="Times New Roman" panose="02020603050405020304" pitchFamily="18" charset="0"/>
              </a:rPr>
              <a:t> to store all the first aid information. This allows the app to quickly access and display the right guidance whenever needed.</a:t>
            </a:r>
          </a:p>
          <a:p>
            <a:pPr marL="367028" lvl="1" algn="l">
              <a:lnSpc>
                <a:spcPts val="4759"/>
              </a:lnSpc>
              <a:spcBef>
                <a:spcPct val="0"/>
              </a:spcBef>
            </a:pPr>
            <a:r>
              <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 </a:t>
            </a:r>
          </a:p>
        </p:txBody>
      </p:sp>
      <p:grpSp>
        <p:nvGrpSpPr>
          <p:cNvPr id="8" name="Group 8"/>
          <p:cNvGrpSpPr/>
          <p:nvPr/>
        </p:nvGrpSpPr>
        <p:grpSpPr>
          <a:xfrm>
            <a:off x="1256469" y="2052115"/>
            <a:ext cx="16230600" cy="149974"/>
            <a:chOff x="0" y="0"/>
            <a:chExt cx="4052983" cy="37450"/>
          </a:xfrm>
        </p:grpSpPr>
        <p:sp>
          <p:nvSpPr>
            <p:cNvPr id="9" name="Freeform 9"/>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10" name="TextBox 10"/>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2" name="Freeform 12"/>
          <p:cNvSpPr/>
          <p:nvPr/>
        </p:nvSpPr>
        <p:spPr>
          <a:xfrm>
            <a:off x="15812308" y="2233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5730032" y="376633"/>
            <a:ext cx="7004000" cy="892175"/>
          </a:xfrm>
          <a:prstGeom prst="rect">
            <a:avLst/>
          </a:prstGeom>
        </p:spPr>
        <p:txBody>
          <a:bodyPr lIns="0" tIns="0" rIns="0" bIns="0" rtlCol="0" anchor="t">
            <a:spAutoFit/>
          </a:bodyPr>
          <a:lstStyle/>
          <a:p>
            <a:pPr algn="ctr">
              <a:lnSpc>
                <a:spcPts val="7000"/>
              </a:lnSpc>
              <a:spcBef>
                <a:spcPct val="0"/>
              </a:spcBef>
            </a:pPr>
            <a:r>
              <a:rPr lang="en-US" sz="5000" b="1" spc="-400">
                <a:solidFill>
                  <a:srgbClr val="FFFFFF"/>
                </a:solidFill>
                <a:latin typeface="Times New Roman Bold"/>
                <a:ea typeface="Times New Roman Bold"/>
                <a:cs typeface="Times New Roman Bold"/>
                <a:sym typeface="Times New Roman Bold"/>
              </a:rPr>
              <a:t>IMPLEMENTATION  PLAN</a:t>
            </a:r>
          </a:p>
        </p:txBody>
      </p:sp>
      <p:sp>
        <p:nvSpPr>
          <p:cNvPr id="4" name="TextBox 4"/>
          <p:cNvSpPr txBox="1"/>
          <p:nvPr/>
        </p:nvSpPr>
        <p:spPr>
          <a:xfrm>
            <a:off x="732970" y="2916905"/>
            <a:ext cx="17170126" cy="3131114"/>
          </a:xfrm>
          <a:prstGeom prst="rect">
            <a:avLst/>
          </a:prstGeom>
        </p:spPr>
        <p:txBody>
          <a:bodyPr wrap="square" lIns="0" tIns="0" rIns="0" bIns="0" rtlCol="0" anchor="t">
            <a:spAutoFit/>
          </a:bodyPr>
          <a:lstStyle/>
          <a:p>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Step-by-step development plan</a:t>
            </a:r>
            <a:r>
              <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 </a:t>
            </a:r>
            <a:r>
              <a:rPr lang="en-US" sz="2800" dirty="0">
                <a:solidFill>
                  <a:schemeClr val="bg1"/>
                </a:solidFill>
                <a:latin typeface="Times New Roman" panose="02020603050405020304" pitchFamily="18" charset="0"/>
                <a:cs typeface="Times New Roman" panose="02020603050405020304" pitchFamily="18" charset="0"/>
              </a:rPr>
              <a:t>To build this solution, we followed a simple and practical approach:</a:t>
            </a:r>
          </a:p>
          <a:p>
            <a:r>
              <a:rPr lang="en-US" sz="2800" dirty="0">
                <a:solidFill>
                  <a:schemeClr val="bg1"/>
                </a:solidFill>
                <a:latin typeface="Times New Roman" panose="02020603050405020304" pitchFamily="18" charset="0"/>
                <a:cs typeface="Times New Roman" panose="02020603050405020304" pitchFamily="18" charset="0"/>
              </a:rPr>
              <a:t>First, we gathered and verified basic first aid information from reliable sources </a:t>
            </a:r>
          </a:p>
          <a:p>
            <a:r>
              <a:rPr lang="en-US" sz="2800" dirty="0">
                <a:solidFill>
                  <a:schemeClr val="bg1"/>
                </a:solidFill>
                <a:latin typeface="Times New Roman" panose="02020603050405020304" pitchFamily="18" charset="0"/>
                <a:cs typeface="Times New Roman" panose="02020603050405020304" pitchFamily="18" charset="0"/>
              </a:rPr>
              <a:t>Then, we designed a clean and easy-to-use interface so anyone can use it without confusion </a:t>
            </a:r>
          </a:p>
          <a:p>
            <a:r>
              <a:rPr lang="en-US" sz="2800" dirty="0">
                <a:solidFill>
                  <a:schemeClr val="bg1"/>
                </a:solidFill>
                <a:latin typeface="Times New Roman" panose="02020603050405020304" pitchFamily="18" charset="0"/>
                <a:cs typeface="Times New Roman" panose="02020603050405020304" pitchFamily="18" charset="0"/>
              </a:rPr>
              <a:t>After that, we developed the frontend and backend to make the system work smoothly </a:t>
            </a:r>
          </a:p>
          <a:p>
            <a:r>
              <a:rPr lang="en-US" sz="2800" dirty="0">
                <a:solidFill>
                  <a:schemeClr val="bg1"/>
                </a:solidFill>
                <a:latin typeface="Times New Roman" panose="02020603050405020304" pitchFamily="18" charset="0"/>
                <a:cs typeface="Times New Roman" panose="02020603050405020304" pitchFamily="18" charset="0"/>
              </a:rPr>
              <a:t>We connected the app with a database to store and retrieve information quickly </a:t>
            </a:r>
          </a:p>
          <a:p>
            <a:r>
              <a:rPr lang="en-US" sz="2800" dirty="0">
                <a:solidFill>
                  <a:schemeClr val="bg1"/>
                </a:solidFill>
                <a:latin typeface="Times New Roman" panose="02020603050405020304" pitchFamily="18" charset="0"/>
                <a:cs typeface="Times New Roman" panose="02020603050405020304" pitchFamily="18" charset="0"/>
              </a:rPr>
              <a:t>Finally, we tested the system in different scenarios to ensure it works properly in emergencies </a:t>
            </a:r>
          </a:p>
          <a:p>
            <a:pPr marL="734059" lvl="1" indent="-367030" algn="l">
              <a:lnSpc>
                <a:spcPts val="4759"/>
              </a:lnSpc>
              <a:spcBef>
                <a:spcPct val="0"/>
              </a:spcBef>
              <a:buFont typeface="Arial"/>
              <a:buChar char="•"/>
            </a:pPr>
            <a:endPar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5" name="TextBox 5"/>
          <p:cNvSpPr txBox="1"/>
          <p:nvPr/>
        </p:nvSpPr>
        <p:spPr>
          <a:xfrm>
            <a:off x="673199" y="6203440"/>
            <a:ext cx="16941601" cy="3131114"/>
          </a:xfrm>
          <a:prstGeom prst="rect">
            <a:avLst/>
          </a:prstGeom>
        </p:spPr>
        <p:txBody>
          <a:bodyPr wrap="square" lIns="0" tIns="0" rIns="0" bIns="0" rtlCol="0" anchor="t">
            <a:spAutoFit/>
          </a:bodyPr>
          <a:lstStyle/>
          <a:p>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Modules or features to be built: </a:t>
            </a:r>
          </a:p>
          <a:p>
            <a:r>
              <a:rPr lang="en-US" sz="2800" b="1" dirty="0">
                <a:solidFill>
                  <a:schemeClr val="bg1"/>
                </a:solidFill>
                <a:latin typeface="Times New Roman" panose="02020603050405020304" pitchFamily="18" charset="0"/>
                <a:cs typeface="Times New Roman" panose="02020603050405020304" pitchFamily="18" charset="0"/>
              </a:rPr>
              <a:t>Emergency Selection Module</a:t>
            </a:r>
            <a:r>
              <a:rPr lang="en-US" sz="2800" dirty="0">
                <a:solidFill>
                  <a:schemeClr val="bg1"/>
                </a:solidFill>
                <a:latin typeface="Times New Roman" panose="02020603050405020304" pitchFamily="18" charset="0"/>
                <a:cs typeface="Times New Roman" panose="02020603050405020304" pitchFamily="18" charset="0"/>
              </a:rPr>
              <a:t> → lets users choose the type of situation quickly </a:t>
            </a:r>
          </a:p>
          <a:p>
            <a:r>
              <a:rPr lang="en-US" sz="2800" b="1" dirty="0">
                <a:solidFill>
                  <a:schemeClr val="bg1"/>
                </a:solidFill>
                <a:latin typeface="Times New Roman" panose="02020603050405020304" pitchFamily="18" charset="0"/>
                <a:cs typeface="Times New Roman" panose="02020603050405020304" pitchFamily="18" charset="0"/>
              </a:rPr>
              <a:t>Instruction Module</a:t>
            </a:r>
            <a:r>
              <a:rPr lang="en-US" sz="2800" dirty="0">
                <a:solidFill>
                  <a:schemeClr val="bg1"/>
                </a:solidFill>
                <a:latin typeface="Times New Roman" panose="02020603050405020304" pitchFamily="18" charset="0"/>
                <a:cs typeface="Times New Roman" panose="02020603050405020304" pitchFamily="18" charset="0"/>
              </a:rPr>
              <a:t> → shows clear, step-by-step first aid guidance </a:t>
            </a:r>
          </a:p>
          <a:p>
            <a:r>
              <a:rPr lang="en-US" sz="2800" b="1" dirty="0">
                <a:solidFill>
                  <a:schemeClr val="bg1"/>
                </a:solidFill>
                <a:latin typeface="Times New Roman" panose="02020603050405020304" pitchFamily="18" charset="0"/>
                <a:cs typeface="Times New Roman" panose="02020603050405020304" pitchFamily="18" charset="0"/>
              </a:rPr>
              <a:t>Voice Assistance Module</a:t>
            </a:r>
            <a:r>
              <a:rPr lang="en-US" sz="2800" dirty="0">
                <a:solidFill>
                  <a:schemeClr val="bg1"/>
                </a:solidFill>
                <a:latin typeface="Times New Roman" panose="02020603050405020304" pitchFamily="18" charset="0"/>
                <a:cs typeface="Times New Roman" panose="02020603050405020304" pitchFamily="18" charset="0"/>
              </a:rPr>
              <a:t> → gives audio instructions for hands-free help </a:t>
            </a:r>
          </a:p>
          <a:p>
            <a:r>
              <a:rPr lang="en-US" sz="2800" b="1" dirty="0">
                <a:solidFill>
                  <a:schemeClr val="bg1"/>
                </a:solidFill>
                <a:latin typeface="Times New Roman" panose="02020603050405020304" pitchFamily="18" charset="0"/>
                <a:cs typeface="Times New Roman" panose="02020603050405020304" pitchFamily="18" charset="0"/>
              </a:rPr>
              <a:t>Emergency Contact Module</a:t>
            </a:r>
            <a:r>
              <a:rPr lang="en-US" sz="2800" dirty="0">
                <a:solidFill>
                  <a:schemeClr val="bg1"/>
                </a:solidFill>
                <a:latin typeface="Times New Roman" panose="02020603050405020304" pitchFamily="18" charset="0"/>
                <a:cs typeface="Times New Roman" panose="02020603050405020304" pitchFamily="18" charset="0"/>
              </a:rPr>
              <a:t> → allows users to call for help instantly </a:t>
            </a:r>
          </a:p>
          <a:p>
            <a:r>
              <a:rPr lang="en-US" sz="2800" b="1" dirty="0">
                <a:solidFill>
                  <a:schemeClr val="bg1"/>
                </a:solidFill>
                <a:latin typeface="Times New Roman" panose="02020603050405020304" pitchFamily="18" charset="0"/>
                <a:cs typeface="Times New Roman" panose="02020603050405020304" pitchFamily="18" charset="0"/>
              </a:rPr>
              <a:t>Offline Support Module</a:t>
            </a:r>
            <a:r>
              <a:rPr lang="en-US" sz="2800" dirty="0">
                <a:solidFill>
                  <a:schemeClr val="bg1"/>
                </a:solidFill>
                <a:latin typeface="Times New Roman" panose="02020603050405020304" pitchFamily="18" charset="0"/>
                <a:cs typeface="Times New Roman" panose="02020603050405020304" pitchFamily="18" charset="0"/>
              </a:rPr>
              <a:t> → ensures the app works even without internet </a:t>
            </a:r>
          </a:p>
          <a:p>
            <a:pPr marL="734059" lvl="1" indent="-367030" algn="l">
              <a:lnSpc>
                <a:spcPts val="4759"/>
              </a:lnSpc>
              <a:spcBef>
                <a:spcPct val="0"/>
              </a:spcBef>
              <a:buFont typeface="Arial"/>
              <a:buChar char="•"/>
            </a:pPr>
            <a:endPar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grpSp>
        <p:nvGrpSpPr>
          <p:cNvPr id="7" name="Group 7"/>
          <p:cNvGrpSpPr/>
          <p:nvPr/>
        </p:nvGrpSpPr>
        <p:grpSpPr>
          <a:xfrm>
            <a:off x="985912" y="2158547"/>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812307" y="137021"/>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sp>
      <p:sp>
        <p:nvSpPr>
          <p:cNvPr id="3" name="TextBox 3"/>
          <p:cNvSpPr txBox="1"/>
          <p:nvPr/>
        </p:nvSpPr>
        <p:spPr>
          <a:xfrm>
            <a:off x="4896553" y="377591"/>
            <a:ext cx="8827740" cy="892175"/>
          </a:xfrm>
          <a:prstGeom prst="rect">
            <a:avLst/>
          </a:prstGeom>
        </p:spPr>
        <p:txBody>
          <a:bodyPr lIns="0" tIns="0" rIns="0" bIns="0" rtlCol="0" anchor="t">
            <a:spAutoFit/>
          </a:bodyPr>
          <a:lstStyle/>
          <a:p>
            <a:pPr algn="ctr">
              <a:lnSpc>
                <a:spcPts val="7000"/>
              </a:lnSpc>
              <a:spcBef>
                <a:spcPct val="0"/>
              </a:spcBef>
            </a:pPr>
            <a:r>
              <a:rPr lang="en-US" sz="5000" b="1" spc="-400">
                <a:solidFill>
                  <a:srgbClr val="FFFFFF"/>
                </a:solidFill>
                <a:latin typeface="Times New Roman Bold"/>
                <a:ea typeface="Times New Roman Bold"/>
                <a:cs typeface="Times New Roman Bold"/>
                <a:sym typeface="Times New Roman Bold"/>
              </a:rPr>
              <a:t>EXPECTED OUTCOME  / IMPACT</a:t>
            </a:r>
          </a:p>
        </p:txBody>
      </p:sp>
      <p:sp>
        <p:nvSpPr>
          <p:cNvPr id="4" name="TextBox 4"/>
          <p:cNvSpPr txBox="1"/>
          <p:nvPr/>
        </p:nvSpPr>
        <p:spPr>
          <a:xfrm>
            <a:off x="901378" y="3081217"/>
            <a:ext cx="16421422" cy="1838452"/>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Expected results of the project</a:t>
            </a:r>
            <a:r>
              <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 </a:t>
            </a: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People can respond faster in emergencies </a:t>
            </a: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Better awareness of basic first aid </a:t>
            </a:r>
          </a:p>
          <a:p>
            <a:pPr marL="367028" lvl="1" algn="l">
              <a:lnSpc>
                <a:spcPts val="4759"/>
              </a:lnSpc>
              <a:spcBef>
                <a:spcPct val="0"/>
              </a:spcBef>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a:t>
            </a:r>
          </a:p>
        </p:txBody>
      </p:sp>
      <p:sp>
        <p:nvSpPr>
          <p:cNvPr id="5" name="TextBox 5"/>
          <p:cNvSpPr txBox="1"/>
          <p:nvPr/>
        </p:nvSpPr>
        <p:spPr>
          <a:xfrm>
            <a:off x="891778" y="5057775"/>
            <a:ext cx="16878837" cy="2269339"/>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Benefits to users: </a:t>
            </a: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Easy for anyone to use </a:t>
            </a: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Reduces confusion and panic </a:t>
            </a:r>
          </a:p>
          <a:p>
            <a:pPr lvl="0" eaLnBrk="0" fontAlgn="base" hangingPunct="0">
              <a:spcBef>
                <a:spcPct val="0"/>
              </a:spcBef>
              <a:spcAft>
                <a:spcPct val="0"/>
              </a:spcAft>
            </a:pPr>
            <a:r>
              <a:rPr lang="en-US" altLang="en-US" sz="2800" dirty="0">
                <a:solidFill>
                  <a:schemeClr val="bg1"/>
                </a:solidFill>
                <a:latin typeface="Times New Roman" panose="02020603050405020304" pitchFamily="18" charset="0"/>
                <a:cs typeface="Times New Roman" panose="02020603050405020304" pitchFamily="18" charset="0"/>
              </a:rPr>
              <a:t>Helps take quick and correct action </a:t>
            </a:r>
          </a:p>
          <a:p>
            <a:pPr marL="367028" lvl="1" algn="l">
              <a:lnSpc>
                <a:spcPts val="4759"/>
              </a:lnSpc>
              <a:spcBef>
                <a:spcPct val="0"/>
              </a:spcBef>
            </a:pP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a:t>
            </a:r>
            <a:endPar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6" name="TextBox 6"/>
          <p:cNvSpPr txBox="1"/>
          <p:nvPr/>
        </p:nvSpPr>
        <p:spPr>
          <a:xfrm>
            <a:off x="621903" y="7591612"/>
            <a:ext cx="16700897" cy="1785232"/>
          </a:xfrm>
          <a:prstGeom prst="rect">
            <a:avLst/>
          </a:prstGeom>
        </p:spPr>
        <p:txBody>
          <a:bodyPr wrap="square" lIns="0" tIns="0" rIns="0" bIns="0" rtlCol="0" anchor="t">
            <a:spAutoFit/>
          </a:bodyPr>
          <a:lstStyle/>
          <a:p>
            <a:pPr marL="367028" lvl="1" algn="l">
              <a:lnSpc>
                <a:spcPts val="4759"/>
              </a:lnSpc>
              <a:spcBef>
                <a:spcPct val="0"/>
              </a:spcBef>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Real-world impact:</a:t>
            </a:r>
          </a:p>
          <a:p>
            <a:pPr marL="367028" lvl="1">
              <a:lnSpc>
                <a:spcPts val="4759"/>
              </a:lnSpc>
              <a:spcBef>
                <a:spcPct val="0"/>
              </a:spcBef>
            </a:pPr>
            <a:r>
              <a:rPr lang="en-US" sz="2800" dirty="0">
                <a:solidFill>
                  <a:schemeClr val="bg1"/>
                </a:solidFill>
                <a:latin typeface="Times New Roman" panose="02020603050405020304" pitchFamily="18" charset="0"/>
                <a:cs typeface="Times New Roman" panose="02020603050405020304" pitchFamily="18" charset="0"/>
              </a:rPr>
              <a:t>This solution can make a real difference by helping people act during emergencies. Even small actions at the right time can prevent serious harm and save lives</a:t>
            </a:r>
            <a:r>
              <a:rPr lang="en-US" sz="2800" dirty="0"/>
              <a:t>.</a:t>
            </a:r>
            <a:endPar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endParaRPr>
          </a:p>
        </p:txBody>
      </p:sp>
      <p:grpSp>
        <p:nvGrpSpPr>
          <p:cNvPr id="7" name="Group 7"/>
          <p:cNvGrpSpPr/>
          <p:nvPr/>
        </p:nvGrpSpPr>
        <p:grpSpPr>
          <a:xfrm>
            <a:off x="1540015" y="2131579"/>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812308" y="49024"/>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464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dirty="0"/>
          </a:p>
        </p:txBody>
      </p:sp>
      <p:sp>
        <p:nvSpPr>
          <p:cNvPr id="3" name="TextBox 3"/>
          <p:cNvSpPr txBox="1"/>
          <p:nvPr/>
        </p:nvSpPr>
        <p:spPr>
          <a:xfrm>
            <a:off x="4503647" y="331023"/>
            <a:ext cx="9836646" cy="892175"/>
          </a:xfrm>
          <a:prstGeom prst="rect">
            <a:avLst/>
          </a:prstGeom>
        </p:spPr>
        <p:txBody>
          <a:bodyPr lIns="0" tIns="0" rIns="0" bIns="0" rtlCol="0" anchor="t">
            <a:spAutoFit/>
          </a:bodyPr>
          <a:lstStyle/>
          <a:p>
            <a:pPr algn="ctr">
              <a:lnSpc>
                <a:spcPts val="7000"/>
              </a:lnSpc>
              <a:spcBef>
                <a:spcPct val="0"/>
              </a:spcBef>
            </a:pPr>
            <a:r>
              <a:rPr lang="en-US" sz="5000" b="1" spc="-400">
                <a:solidFill>
                  <a:srgbClr val="FFFFFF"/>
                </a:solidFill>
                <a:latin typeface="Times New Roman Bold"/>
                <a:ea typeface="Times New Roman Bold"/>
                <a:cs typeface="Times New Roman Bold"/>
                <a:sym typeface="Times New Roman Bold"/>
              </a:rPr>
              <a:t>FUTURE  SCOPE  AND  CONCLUSION</a:t>
            </a:r>
          </a:p>
        </p:txBody>
      </p:sp>
      <p:sp>
        <p:nvSpPr>
          <p:cNvPr id="4" name="TextBox 4"/>
          <p:cNvSpPr txBox="1"/>
          <p:nvPr/>
        </p:nvSpPr>
        <p:spPr>
          <a:xfrm>
            <a:off x="901378" y="3173674"/>
            <a:ext cx="16624622" cy="1161344"/>
          </a:xfrm>
          <a:prstGeom prst="rect">
            <a:avLst/>
          </a:prstGeom>
        </p:spPr>
        <p:txBody>
          <a:bodyPr wrap="square" lIns="0" tIns="0" rIns="0" bIns="0" rtlCol="0" anchor="t">
            <a:spAutoFit/>
          </a:bodyPr>
          <a:lstStyle/>
          <a:p>
            <a:pPr marL="367028" lvl="1">
              <a:lnSpc>
                <a:spcPts val="4759"/>
              </a:lnSpc>
              <a:spcBef>
                <a:spcPct val="0"/>
              </a:spcBef>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Future improvements: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Digital Integration and Smart Technology, AI-based symptom detection, Multi-language support,   Video-based instructions , Wearable device integration.</a:t>
            </a:r>
          </a:p>
        </p:txBody>
      </p:sp>
      <p:sp>
        <p:nvSpPr>
          <p:cNvPr id="5" name="TextBox 5"/>
          <p:cNvSpPr txBox="1"/>
          <p:nvPr/>
        </p:nvSpPr>
        <p:spPr>
          <a:xfrm>
            <a:off x="1136043" y="4870279"/>
            <a:ext cx="15545197" cy="1856470"/>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Scalability of the project: Expand</a:t>
            </a:r>
            <a:r>
              <a:rPr lang="en-US" altLang="en-US" sz="2800" dirty="0">
                <a:solidFill>
                  <a:schemeClr val="bg1"/>
                </a:solidFill>
                <a:latin typeface="Times New Roman" panose="02020603050405020304" pitchFamily="18" charset="0"/>
                <a:cs typeface="Times New Roman" panose="02020603050405020304" pitchFamily="18" charset="0"/>
              </a:rPr>
              <a:t> to rural areas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Integrate with hospitals/ambulance services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Large-scale deployment </a:t>
            </a:r>
          </a:p>
          <a:p>
            <a:pPr marL="734056" lvl="1" indent="-367028" algn="l">
              <a:lnSpc>
                <a:spcPts val="4759"/>
              </a:lnSpc>
              <a:spcBef>
                <a:spcPct val="0"/>
              </a:spcBef>
              <a:buFont typeface="Arial"/>
              <a:buChar char="•"/>
            </a:pPr>
            <a:endParaRPr lang="en-US" sz="3399" b="1" spc="-271" dirty="0">
              <a:solidFill>
                <a:srgbClr val="FFFFFF"/>
              </a:solidFill>
              <a:latin typeface="Times New Roman Bold"/>
              <a:ea typeface="Times New Roman Bold"/>
              <a:cs typeface="Times New Roman Bold"/>
              <a:sym typeface="Times New Roman Bold"/>
            </a:endParaRPr>
          </a:p>
        </p:txBody>
      </p:sp>
      <p:sp>
        <p:nvSpPr>
          <p:cNvPr id="6" name="TextBox 6"/>
          <p:cNvSpPr txBox="1"/>
          <p:nvPr/>
        </p:nvSpPr>
        <p:spPr>
          <a:xfrm>
            <a:off x="1136043" y="6726749"/>
            <a:ext cx="16129397" cy="3149132"/>
          </a:xfrm>
          <a:prstGeom prst="rect">
            <a:avLst/>
          </a:prstGeom>
        </p:spPr>
        <p:txBody>
          <a:bodyPr wrap="square" lIns="0" tIns="0" rIns="0" bIns="0" rtlCol="0" anchor="t">
            <a:spAutoFit/>
          </a:bodyPr>
          <a:lstStyle/>
          <a:p>
            <a:pPr lvl="0" eaLnBrk="0" fontAlgn="base" hangingPunct="0">
              <a:spcBef>
                <a:spcPct val="0"/>
              </a:spcBef>
              <a:spcAft>
                <a:spcPct val="0"/>
              </a:spcAft>
              <a:buFontTx/>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Final summary: </a:t>
            </a:r>
            <a:r>
              <a:rPr lang="en-US" sz="2800"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First aid is immediate, temporary care for injury or illness to prevent worsening conditions, promote recovery, and save lives until professional help arrives. Key steps are to check the scene for safety, assess the victim (ABC: Airway, Breathing, Circulation), and call for emergency help. Common actions include managing bleeding, performing CPR, and treating burns. </a:t>
            </a:r>
          </a:p>
          <a:p>
            <a:pPr lvl="0" eaLnBrk="0" fontAlgn="base" hangingPunct="0">
              <a:spcBef>
                <a:spcPct val="0"/>
              </a:spcBef>
              <a:spcAft>
                <a:spcPct val="0"/>
              </a:spcAft>
              <a:buFontTx/>
              <a:buChar char="•"/>
            </a:pPr>
            <a:r>
              <a:rPr lang="en-US" sz="2800" b="1" spc="-271" dirty="0">
                <a:solidFill>
                  <a:srgbClr val="FFFFFF"/>
                </a:solidFill>
                <a:latin typeface="Times New Roman" panose="02020603050405020304" pitchFamily="18" charset="0"/>
                <a:ea typeface="Times New Roman Bold"/>
                <a:cs typeface="Times New Roman" panose="02020603050405020304" pitchFamily="18" charset="0"/>
                <a:sym typeface="Times New Roman Bold"/>
              </a:rPr>
              <a:t> </a:t>
            </a:r>
            <a:r>
              <a:rPr lang="en-US" sz="2800" b="1"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A  </a:t>
            </a:r>
            <a:r>
              <a:rPr lang="en-US" sz="2800" spc="-271" dirty="0">
                <a:solidFill>
                  <a:schemeClr val="bg1"/>
                </a:solidFill>
                <a:latin typeface="Times New Roman" panose="02020603050405020304" pitchFamily="18" charset="0"/>
                <a:ea typeface="Times New Roman Bold"/>
                <a:cs typeface="Times New Roman" panose="02020603050405020304" pitchFamily="18" charset="0"/>
                <a:sym typeface="Times New Roman Bold"/>
              </a:rPr>
              <a:t>simple yet powerful solution</a:t>
            </a:r>
            <a:r>
              <a:rPr lang="en-US" altLang="en-US" sz="2800" dirty="0">
                <a:solidFill>
                  <a:schemeClr val="bg1"/>
                </a:solidFill>
                <a:latin typeface="Times New Roman" panose="02020603050405020304" pitchFamily="18" charset="0"/>
                <a:cs typeface="Times New Roman" panose="02020603050405020304" pitchFamily="18" charset="0"/>
              </a:rPr>
              <a:t> for emergency situations </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Bridges the gap between incident and medical help</a:t>
            </a:r>
          </a:p>
          <a:p>
            <a:pPr lvl="0" eaLnBrk="0" fontAlgn="base" hangingPunct="0">
              <a:spcBef>
                <a:spcPct val="0"/>
              </a:spcBef>
              <a:spcAft>
                <a:spcPct val="0"/>
              </a:spcAft>
              <a:buFontTx/>
              <a:buChar char="•"/>
            </a:pPr>
            <a:r>
              <a:rPr lang="en-US" altLang="en-US" sz="2800" dirty="0">
                <a:solidFill>
                  <a:schemeClr val="bg1"/>
                </a:solidFill>
                <a:latin typeface="Times New Roman" panose="02020603050405020304" pitchFamily="18" charset="0"/>
                <a:cs typeface="Times New Roman" panose="02020603050405020304" pitchFamily="18" charset="0"/>
              </a:rPr>
              <a:t>Aims to save lives through quick action</a:t>
            </a:r>
          </a:p>
          <a:p>
            <a:pPr marL="367028" lvl="1" algn="l">
              <a:lnSpc>
                <a:spcPts val="4759"/>
              </a:lnSpc>
              <a:spcBef>
                <a:spcPct val="0"/>
              </a:spcBef>
            </a:pPr>
            <a:endParaRPr lang="en-US" sz="3399" b="1" spc="-271" dirty="0">
              <a:solidFill>
                <a:srgbClr val="FFFFFF"/>
              </a:solidFill>
              <a:latin typeface="Times New Roman Bold"/>
              <a:ea typeface="Times New Roman Bold"/>
              <a:cs typeface="Times New Roman Bold"/>
              <a:sym typeface="Times New Roman Bold"/>
            </a:endParaRPr>
          </a:p>
        </p:txBody>
      </p:sp>
      <p:grpSp>
        <p:nvGrpSpPr>
          <p:cNvPr id="7" name="Group 7"/>
          <p:cNvGrpSpPr/>
          <p:nvPr/>
        </p:nvGrpSpPr>
        <p:grpSpPr>
          <a:xfrm>
            <a:off x="1136043" y="1423973"/>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sp>
      <p:sp>
        <p:nvSpPr>
          <p:cNvPr id="11" name="Freeform 11"/>
          <p:cNvSpPr/>
          <p:nvPr/>
        </p:nvSpPr>
        <p:spPr>
          <a:xfrm>
            <a:off x="15812308" y="14648"/>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1254</Words>
  <Application>Microsoft Office PowerPoint</Application>
  <PresentationFormat>Custom</PresentationFormat>
  <Paragraphs>90</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INDUSHYA</dc:creator>
  <cp:lastModifiedBy>Indushya Chintalapati</cp:lastModifiedBy>
  <cp:revision>3</cp:revision>
  <dcterms:modified xsi:type="dcterms:W3CDTF">2026-04-02T16:09:58Z</dcterms:modified>
</cp:coreProperties>
</file>